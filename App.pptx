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076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6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895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69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82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68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7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53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981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82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430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FE5C46E-A049-4DD5-8E59-05762B71D7CF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29DAABC-BB92-47EE-B4B4-45152A8F6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190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173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C9F61-F7DF-939B-AB8D-1FB12756C4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App.jsx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CB6AC-94AD-A300-6C83-CA8C292E0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Chris</a:t>
            </a:r>
          </a:p>
        </p:txBody>
      </p:sp>
    </p:spTree>
    <p:extLst>
      <p:ext uri="{BB962C8B-B14F-4D97-AF65-F5344CB8AC3E}">
        <p14:creationId xmlns:p14="http://schemas.microsoft.com/office/powerpoint/2010/main" val="3780893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0E05-EE48-D2DE-2723-7425C6B6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Importing Routes and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F252-F4B7-0E0C-998B-FA382B040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import { Routes, Route } from "react-router-dom";</a:t>
            </a:r>
          </a:p>
          <a:p>
            <a:r>
              <a:rPr lang="en-US" dirty="0"/>
              <a:t>These two components come from react-router-dom.</a:t>
            </a:r>
          </a:p>
          <a:p>
            <a:r>
              <a:rPr lang="en-US" b="1" dirty="0"/>
              <a:t>Routes</a:t>
            </a:r>
          </a:p>
          <a:p>
            <a:r>
              <a:rPr lang="en-US" dirty="0"/>
              <a:t>Routes is the container that holds your different routes.</a:t>
            </a:r>
          </a:p>
          <a:p>
            <a:r>
              <a:rPr lang="en-US" dirty="0"/>
              <a:t>Think of it as a </a:t>
            </a:r>
            <a:r>
              <a:rPr lang="en-US" b="1" dirty="0"/>
              <a:t>traffic controller</a:t>
            </a:r>
            <a:r>
              <a:rPr lang="en-US" dirty="0"/>
              <a:t>:</a:t>
            </a:r>
          </a:p>
          <a:p>
            <a:r>
              <a:rPr lang="en-US" dirty="0"/>
              <a:t>URL</a:t>
            </a:r>
          </a:p>
          <a:p>
            <a:r>
              <a:rPr lang="en-US" dirty="0"/>
              <a:t> ↓</a:t>
            </a:r>
          </a:p>
          <a:p>
            <a:r>
              <a:rPr lang="en-US" dirty="0"/>
              <a:t>Routes</a:t>
            </a:r>
          </a:p>
          <a:p>
            <a:r>
              <a:rPr lang="en-US" dirty="0"/>
              <a:t> ↓</a:t>
            </a:r>
          </a:p>
          <a:p>
            <a:r>
              <a:rPr lang="en-US" dirty="0"/>
              <a:t>Which page should be displayed?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46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87B03-7645-C222-960D-D2BA86546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0" y="616585"/>
            <a:ext cx="10515600" cy="4351338"/>
          </a:xfrm>
        </p:spPr>
        <p:txBody>
          <a:bodyPr/>
          <a:lstStyle/>
          <a:p>
            <a:r>
              <a:rPr lang="en-US" b="1" dirty="0"/>
              <a:t>Route</a:t>
            </a:r>
          </a:p>
          <a:p>
            <a:r>
              <a:rPr lang="en-US" dirty="0"/>
              <a:t>A Route defines a relationship between a URL and a React component.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&lt;Route path="products" element={&lt;Products /&gt;} /&gt;</a:t>
            </a:r>
          </a:p>
          <a:p>
            <a:r>
              <a:rPr lang="en-US" dirty="0"/>
              <a:t>means:</a:t>
            </a:r>
          </a:p>
          <a:p>
            <a:r>
              <a:rPr lang="en-US" dirty="0"/>
              <a:t>When the URL is /products, display the Products component.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72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E8FE3-FBB1-E0C8-18A4-390602F3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Importing MainLayout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AD988-33EA-B013-ED16-ABF5EAE3D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import MainLayout from "./layouts/MainLayout";</a:t>
            </a:r>
          </a:p>
          <a:p>
            <a:r>
              <a:rPr lang="en-US" dirty="0"/>
              <a:t>This imports your main layout component.</a:t>
            </a:r>
          </a:p>
          <a:p>
            <a:r>
              <a:rPr lang="en-US" dirty="0"/>
              <a:t>A layout is usually used for parts of the website that should appear on multiple pages.</a:t>
            </a:r>
          </a:p>
          <a:p>
            <a:r>
              <a:rPr lang="en-US" dirty="0"/>
              <a:t>For example, your MainLayout might contain:</a:t>
            </a:r>
          </a:p>
          <a:p>
            <a:r>
              <a:rPr lang="en-US" dirty="0"/>
              <a:t>Navbar</a:t>
            </a:r>
          </a:p>
          <a:p>
            <a:r>
              <a:rPr lang="en-US" dirty="0"/>
              <a:t>Sidebar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Page content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Footer</a:t>
            </a:r>
          </a:p>
          <a:p>
            <a:r>
              <a:rPr lang="en-US" dirty="0"/>
              <a:t>So instead of repeating the Navbar and Footer inside every page, you put them in MainLayout.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628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C4FDB-24FF-2878-7FDF-586E0E885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3760"/>
            <a:ext cx="10515600" cy="5303203"/>
          </a:xfrm>
        </p:spPr>
        <p:txBody>
          <a:bodyPr>
            <a:normAutofit/>
          </a:bodyPr>
          <a:lstStyle/>
          <a:p>
            <a:r>
              <a:rPr lang="en-US" dirty="0"/>
              <a:t>For example:</a:t>
            </a:r>
          </a:p>
          <a:p>
            <a:r>
              <a:rPr lang="en-US" dirty="0"/>
              <a:t>MainLayout</a:t>
            </a:r>
          </a:p>
          <a:p>
            <a:r>
              <a:rPr lang="en-US" dirty="0"/>
              <a:t> ├── Navbar</a:t>
            </a:r>
          </a:p>
          <a:p>
            <a:r>
              <a:rPr lang="en-US" dirty="0"/>
              <a:t> ├── Outlet</a:t>
            </a:r>
          </a:p>
          <a:p>
            <a:r>
              <a:rPr lang="en-US" dirty="0"/>
              <a:t> └── Footer</a:t>
            </a:r>
          </a:p>
          <a:p>
            <a:r>
              <a:rPr lang="en-US" dirty="0"/>
              <a:t>The important part here is </a:t>
            </a:r>
            <a:r>
              <a:rPr lang="en-US" b="1" dirty="0"/>
              <a:t>Outlet</a:t>
            </a:r>
            <a:r>
              <a:rPr lang="en-US" dirty="0"/>
              <a:t>.</a:t>
            </a:r>
          </a:p>
          <a:p>
            <a:r>
              <a:rPr lang="en-US" dirty="0"/>
              <a:t>Your MainLayout should normally contain:</a:t>
            </a:r>
          </a:p>
          <a:p>
            <a:r>
              <a:rPr lang="en-US" dirty="0"/>
              <a:t>&lt;Outlet /&gt;</a:t>
            </a:r>
          </a:p>
          <a:p>
            <a:r>
              <a:rPr lang="en-US" dirty="0"/>
              <a:t>Outlet is where React Router will insert the current child page.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11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4CE3F-E7BB-134A-65C8-651A95D23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Importing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EF2B-C75E-25A5-0A92-02930803D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import Home from "./pages/Home";</a:t>
            </a:r>
          </a:p>
          <a:p>
            <a:r>
              <a:rPr lang="en-US" dirty="0"/>
              <a:t>This imports your Home page.</a:t>
            </a:r>
          </a:p>
          <a:p>
            <a:r>
              <a:rPr lang="en-US" dirty="0"/>
              <a:t>The component is probably something like:</a:t>
            </a:r>
          </a:p>
          <a:p>
            <a:r>
              <a:rPr lang="en-US" dirty="0"/>
              <a:t>function Home() {</a:t>
            </a:r>
          </a:p>
          <a:p>
            <a:r>
              <a:rPr lang="en-US" dirty="0"/>
              <a:t>    return (</a:t>
            </a:r>
          </a:p>
          <a:p>
            <a:r>
              <a:rPr lang="en-US" dirty="0"/>
              <a:t>        &lt;h1&gt;Welcome to Chris Shop&lt;/h1&gt;</a:t>
            </a:r>
          </a:p>
          <a:p>
            <a:r>
              <a:rPr lang="en-US" dirty="0"/>
              <a:t>    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export default Home;</a:t>
            </a:r>
          </a:p>
        </p:txBody>
      </p:sp>
    </p:spTree>
    <p:extLst>
      <p:ext uri="{BB962C8B-B14F-4D97-AF65-F5344CB8AC3E}">
        <p14:creationId xmlns:p14="http://schemas.microsoft.com/office/powerpoint/2010/main" val="2624670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9355-A8E0-FFD7-BDB5-739283E4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Importing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580FB-063F-1E2F-B03E-487847BB1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Products from "./pages/Products";</a:t>
            </a:r>
          </a:p>
          <a:p>
            <a:r>
              <a:rPr lang="en-US" dirty="0"/>
              <a:t>This imports your Products page.</a:t>
            </a:r>
          </a:p>
          <a:p>
            <a:r>
              <a:rPr lang="en-US" dirty="0"/>
              <a:t>It will be displayed when the user visits:</a:t>
            </a:r>
          </a:p>
          <a:p>
            <a:r>
              <a:rPr lang="en-US" dirty="0"/>
              <a:t>/products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10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A940-C840-AA25-C380-C09AE97F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Importing 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B6CE4-AFF4-7215-C301-8CB895947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import Contact from "./pages/</a:t>
            </a:r>
            <a:r>
              <a:rPr lang="en-US" dirty="0" err="1"/>
              <a:t>Conatct</a:t>
            </a:r>
            <a:r>
              <a:rPr lang="en-US" dirty="0"/>
              <a:t>";</a:t>
            </a:r>
          </a:p>
          <a:p>
            <a:r>
              <a:rPr lang="en-US" dirty="0"/>
              <a:t>This imports the Contact page.</a:t>
            </a:r>
          </a:p>
          <a:p>
            <a:r>
              <a:rPr lang="en-US" dirty="0"/>
              <a:t>⚠️ Notice something important:</a:t>
            </a:r>
          </a:p>
          <a:p>
            <a:r>
              <a:rPr lang="en-US" dirty="0"/>
              <a:t>./pages/</a:t>
            </a:r>
            <a:r>
              <a:rPr lang="en-US" dirty="0" err="1"/>
              <a:t>Conatct</a:t>
            </a:r>
            <a:endParaRPr lang="en-US" dirty="0"/>
          </a:p>
          <a:p>
            <a:r>
              <a:rPr lang="en-US" dirty="0"/>
              <a:t>You wrote </a:t>
            </a:r>
            <a:r>
              <a:rPr lang="en-US" b="1" dirty="0" err="1"/>
              <a:t>Conatct</a:t>
            </a:r>
            <a:r>
              <a:rPr lang="en-US" dirty="0"/>
              <a:t>, not </a:t>
            </a:r>
            <a:r>
              <a:rPr lang="en-US" b="1" dirty="0"/>
              <a:t>Contact</a:t>
            </a:r>
            <a:r>
              <a:rPr lang="en-US" dirty="0"/>
              <a:t>.</a:t>
            </a:r>
          </a:p>
          <a:p>
            <a:r>
              <a:rPr lang="en-US" dirty="0"/>
              <a:t>If your actual file is:</a:t>
            </a:r>
          </a:p>
          <a:p>
            <a:r>
              <a:rPr lang="en-US" dirty="0"/>
              <a:t>Contact.jsx</a:t>
            </a:r>
          </a:p>
          <a:p>
            <a:r>
              <a:rPr lang="en-US" dirty="0"/>
              <a:t>then this should be:</a:t>
            </a:r>
          </a:p>
          <a:p>
            <a:r>
              <a:rPr lang="en-US" dirty="0"/>
              <a:t>import Contact from "./pages/Contact";</a:t>
            </a:r>
          </a:p>
          <a:p>
            <a:r>
              <a:rPr lang="en-US" dirty="0"/>
              <a:t>Otherwise Vite will probably give you a module-not-found error.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668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6335E-8FC3-E81B-5840-1300AD2ED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Importing Cart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7AD09-89B3-E227-9DFE-86323BE44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Cart from "./pages/Cart";</a:t>
            </a:r>
          </a:p>
          <a:p>
            <a:r>
              <a:rPr lang="en-US" dirty="0"/>
              <a:t>This imports your shopping cart page.</a:t>
            </a:r>
          </a:p>
          <a:p>
            <a:r>
              <a:rPr lang="en-US" dirty="0"/>
              <a:t>It will be displayed at:</a:t>
            </a:r>
          </a:p>
          <a:p>
            <a:r>
              <a:rPr lang="en-US" dirty="0"/>
              <a:t>/cart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907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E741-C193-3D6C-EFFF-85E8CC1B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Creating the App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5366-2FD5-06AA-91AF-7D6C69D16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function App(){</a:t>
            </a:r>
          </a:p>
          <a:p>
            <a:r>
              <a:rPr lang="en-US" dirty="0"/>
              <a:t>Here you're creating your main App component.</a:t>
            </a:r>
          </a:p>
          <a:p>
            <a:r>
              <a:rPr lang="en-US" dirty="0"/>
              <a:t>Remember from your main.jsx:</a:t>
            </a:r>
          </a:p>
          <a:p>
            <a:r>
              <a:rPr lang="en-US" dirty="0"/>
              <a:t>&lt;App /&gt;</a:t>
            </a:r>
          </a:p>
          <a:p>
            <a:r>
              <a:rPr lang="en-US" dirty="0"/>
              <a:t>So React starts with:</a:t>
            </a:r>
          </a:p>
          <a:p>
            <a:r>
              <a:rPr lang="en-US" dirty="0"/>
              <a:t>main.jsx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&lt;App /&gt;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App.jsx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633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9299-3F69-9DA0-061D-725BE1263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Returning &lt;Routes&gt;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B978F-E7CE-4EE9-2E41-7387A0F1E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return(</a:t>
            </a:r>
          </a:p>
          <a:p>
            <a:r>
              <a:rPr lang="en-US" dirty="0"/>
              <a:t>    &lt;Routes&gt;</a:t>
            </a:r>
          </a:p>
          <a:p>
            <a:r>
              <a:rPr lang="en-US" dirty="0"/>
              <a:t>App returns a Routes component.</a:t>
            </a:r>
          </a:p>
          <a:p>
            <a:r>
              <a:rPr lang="en-US" dirty="0"/>
              <a:t>Inside Routes, you're going to define all the URLs for your 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502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A34BD-4E04-BF35-87A8-B0BCBA94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think of it as a list of instructions: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62024-53A3-A0E5-68B7-2227E141A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If URL = /</a:t>
            </a:r>
          </a:p>
          <a:p>
            <a:r>
              <a:rPr lang="en-US" dirty="0"/>
              <a:t>      → Home</a:t>
            </a:r>
          </a:p>
          <a:p>
            <a:endParaRPr lang="en-US" dirty="0"/>
          </a:p>
          <a:p>
            <a:r>
              <a:rPr lang="en-US" dirty="0"/>
              <a:t>If URL = /products</a:t>
            </a:r>
          </a:p>
          <a:p>
            <a:r>
              <a:rPr lang="en-US" dirty="0"/>
              <a:t>      → Products</a:t>
            </a:r>
          </a:p>
          <a:p>
            <a:endParaRPr lang="en-US" dirty="0"/>
          </a:p>
          <a:p>
            <a:r>
              <a:rPr lang="en-US" dirty="0"/>
              <a:t>If URL = /contact</a:t>
            </a:r>
          </a:p>
          <a:p>
            <a:r>
              <a:rPr lang="en-US" dirty="0"/>
              <a:t>      → Contact</a:t>
            </a:r>
          </a:p>
          <a:p>
            <a:endParaRPr lang="en-US" dirty="0"/>
          </a:p>
          <a:p>
            <a:r>
              <a:rPr lang="en-US" dirty="0"/>
              <a:t>If URL = /cart</a:t>
            </a:r>
          </a:p>
          <a:p>
            <a:r>
              <a:rPr lang="en-US" dirty="0"/>
              <a:t>      → Cart</a:t>
            </a:r>
          </a:p>
        </p:txBody>
      </p:sp>
    </p:spTree>
    <p:extLst>
      <p:ext uri="{BB962C8B-B14F-4D97-AF65-F5344CB8AC3E}">
        <p14:creationId xmlns:p14="http://schemas.microsoft.com/office/powerpoint/2010/main" val="2336352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58D0-EE75-2695-2626-65349DD5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The parent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B8687-CCEE-4BF7-FB9E-2B54FC402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have:</a:t>
            </a:r>
          </a:p>
          <a:p>
            <a:r>
              <a:rPr lang="en-US" dirty="0"/>
              <a:t>&lt;Route path="/" element={&lt;MainLayout /&gt;} &gt;</a:t>
            </a:r>
          </a:p>
          <a:p>
            <a:r>
              <a:rPr lang="en-US" dirty="0"/>
              <a:t>This is very important.</a:t>
            </a:r>
          </a:p>
          <a:p>
            <a:r>
              <a:rPr lang="en-US" dirty="0"/>
              <a:t>You're saying:</a:t>
            </a:r>
          </a:p>
          <a:p>
            <a:r>
              <a:rPr lang="en-US" dirty="0"/>
              <a:t>The root of my website uses MainLayout.</a:t>
            </a:r>
          </a:p>
          <a:p>
            <a:r>
              <a:rPr lang="en-US" dirty="0"/>
              <a:t>So the / route is the </a:t>
            </a:r>
            <a:r>
              <a:rPr lang="en-US" b="1" dirty="0"/>
              <a:t>parent route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2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496BE-BBC5-EC39-EE0B-2B20B090E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has child routes inside it: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4A10E-0F85-531B-4162-455EC3118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&lt;Route path="/" element={&lt;MainLayout /&gt;}&gt;</a:t>
            </a:r>
          </a:p>
          <a:p>
            <a:endParaRPr lang="en-US" dirty="0"/>
          </a:p>
          <a:p>
            <a:r>
              <a:rPr lang="en-US" dirty="0"/>
              <a:t>    ...child routes...</a:t>
            </a:r>
          </a:p>
          <a:p>
            <a:endParaRPr lang="en-US" dirty="0"/>
          </a:p>
          <a:p>
            <a:r>
              <a:rPr lang="en-US" dirty="0"/>
              <a:t>&lt;/Route&gt;</a:t>
            </a:r>
          </a:p>
          <a:p>
            <a:r>
              <a:rPr lang="en-US" dirty="0"/>
              <a:t>This is called </a:t>
            </a:r>
            <a:r>
              <a:rPr lang="en-US" b="1" dirty="0"/>
              <a:t>nested routing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88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9292B-D0BB-2711-CA97-A51FDC4C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The index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547E8-D6E2-5456-202C-AF7C74328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Inside the parent route:</a:t>
            </a:r>
          </a:p>
          <a:p>
            <a:r>
              <a:rPr lang="en-US" dirty="0"/>
              <a:t>&lt;Route index element={&lt;Home /&gt;} /&gt;</a:t>
            </a:r>
          </a:p>
          <a:p>
            <a:r>
              <a:rPr lang="en-US" dirty="0"/>
              <a:t>This is the Home page.</a:t>
            </a:r>
          </a:p>
          <a:p>
            <a:r>
              <a:rPr lang="en-US" dirty="0"/>
              <a:t>The index keyword means:</a:t>
            </a:r>
          </a:p>
          <a:p>
            <a:r>
              <a:rPr lang="en-US" dirty="0"/>
              <a:t>Display this component when the parent route's path is matched exactly.</a:t>
            </a:r>
          </a:p>
          <a:p>
            <a:r>
              <a:rPr lang="en-US" dirty="0"/>
              <a:t>The parent is:</a:t>
            </a:r>
          </a:p>
          <a:p>
            <a:r>
              <a:rPr lang="en-US" dirty="0"/>
              <a:t>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2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CB610-6E50-8182-784F-CEF79B897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6720"/>
            <a:ext cx="10515600" cy="5750243"/>
          </a:xfrm>
        </p:spPr>
        <p:txBody>
          <a:bodyPr/>
          <a:lstStyle/>
          <a:p>
            <a:r>
              <a:rPr lang="en-US" dirty="0"/>
              <a:t>Therefore:</a:t>
            </a:r>
          </a:p>
          <a:p>
            <a:r>
              <a:rPr lang="en-US" dirty="0"/>
              <a:t>&lt;Route index element={&lt;Home /&gt;} /&gt;</a:t>
            </a:r>
          </a:p>
          <a:p>
            <a:r>
              <a:rPr lang="en-US" dirty="0"/>
              <a:t>means:</a:t>
            </a:r>
          </a:p>
          <a:p>
            <a:r>
              <a:rPr lang="en-US" dirty="0"/>
              <a:t>/</a:t>
            </a:r>
          </a:p>
          <a:p>
            <a:r>
              <a:rPr lang="en-US" dirty="0"/>
              <a:t>/ → Home</a:t>
            </a:r>
          </a:p>
          <a:p>
            <a:r>
              <a:rPr lang="en-US" dirty="0"/>
              <a:t>So when you visit:</a:t>
            </a:r>
          </a:p>
          <a:p>
            <a:r>
              <a:rPr lang="en-US" dirty="0">
                <a:hlinkClick r:id="rId2"/>
              </a:rPr>
              <a:t>http://localhost:5173/</a:t>
            </a:r>
            <a:endParaRPr lang="en-US" dirty="0"/>
          </a:p>
          <a:p>
            <a:r>
              <a:rPr lang="en-US" dirty="0"/>
              <a:t>React displays:</a:t>
            </a:r>
          </a:p>
          <a:p>
            <a:r>
              <a:rPr lang="en-US" dirty="0"/>
              <a:t>MainLayout</a:t>
            </a:r>
          </a:p>
          <a:p>
            <a:r>
              <a:rPr lang="en-US" dirty="0"/>
              <a:t>     +</a:t>
            </a:r>
          </a:p>
          <a:p>
            <a:r>
              <a:rPr lang="en-US" dirty="0"/>
              <a:t>   Home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390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673F-F3C7-DF03-3B39-90537F0C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 Products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44E61-5ADE-53F9-F1C2-05CD448D5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&lt;Route path="products" element={&lt;Products /&gt;} /&gt;</a:t>
            </a:r>
          </a:p>
          <a:p>
            <a:r>
              <a:rPr lang="en-US" dirty="0"/>
              <a:t>Notice that you wrote:</a:t>
            </a:r>
          </a:p>
          <a:p>
            <a:r>
              <a:rPr lang="en-US" dirty="0"/>
              <a:t>products</a:t>
            </a:r>
          </a:p>
          <a:p>
            <a:r>
              <a:rPr lang="en-US" dirty="0"/>
              <a:t>and </a:t>
            </a:r>
            <a:r>
              <a:rPr lang="en-US" b="1" dirty="0"/>
              <a:t>not</a:t>
            </a:r>
            <a:r>
              <a:rPr lang="en-US" dirty="0"/>
              <a:t>:</a:t>
            </a:r>
          </a:p>
          <a:p>
            <a:r>
              <a:rPr lang="en-US" dirty="0"/>
              <a:t>/products</a:t>
            </a:r>
          </a:p>
          <a:p>
            <a:r>
              <a:rPr lang="en-US" dirty="0"/>
              <a:t>Because this is a child of:</a:t>
            </a:r>
          </a:p>
          <a:p>
            <a:r>
              <a:rPr lang="en-US" dirty="0"/>
              <a:t>&lt;Route path="/" ...&gt;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8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F08A5-06DE-A28B-DA94-0C8398B4E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2800"/>
            <a:ext cx="10515600" cy="53641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React combines them:</a:t>
            </a:r>
          </a:p>
          <a:p>
            <a:r>
              <a:rPr lang="en-US" dirty="0"/>
              <a:t>Parent: /</a:t>
            </a:r>
          </a:p>
          <a:p>
            <a:r>
              <a:rPr lang="en-US" dirty="0"/>
              <a:t>Child: products</a:t>
            </a:r>
          </a:p>
          <a:p>
            <a:endParaRPr lang="en-US" dirty="0"/>
          </a:p>
          <a:p>
            <a:r>
              <a:rPr lang="en-US" dirty="0"/>
              <a:t>Result:</a:t>
            </a:r>
          </a:p>
          <a:p>
            <a:r>
              <a:rPr lang="en-US" dirty="0"/>
              <a:t>/products</a:t>
            </a:r>
          </a:p>
          <a:p>
            <a:r>
              <a:rPr lang="en-US" dirty="0"/>
              <a:t>Therefore:</a:t>
            </a:r>
          </a:p>
          <a:p>
            <a:r>
              <a:rPr lang="en-US" dirty="0"/>
              <a:t>http://localhost:5173/products</a:t>
            </a:r>
          </a:p>
          <a:p>
            <a:r>
              <a:rPr lang="en-US" dirty="0"/>
              <a:t>displays:</a:t>
            </a:r>
          </a:p>
          <a:p>
            <a:r>
              <a:rPr lang="en-US" dirty="0"/>
              <a:t>MainLayout</a:t>
            </a:r>
          </a:p>
          <a:p>
            <a:r>
              <a:rPr lang="en-US" dirty="0"/>
              <a:t>     +</a:t>
            </a:r>
          </a:p>
          <a:p>
            <a:r>
              <a:rPr lang="en-US" dirty="0"/>
              <a:t>  Products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126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D5992-3A5D-4B8D-AE4C-496F22C5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Contact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2E553-C5D6-D978-11CE-27538D2AC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&lt;Route path="contact" element={&lt;Contact /&gt;} /&gt;</a:t>
            </a:r>
          </a:p>
          <a:p>
            <a:r>
              <a:rPr lang="en-US" dirty="0"/>
              <a:t>This produces:</a:t>
            </a:r>
          </a:p>
          <a:p>
            <a:r>
              <a:rPr lang="en-US" dirty="0"/>
              <a:t>/contact</a:t>
            </a:r>
          </a:p>
          <a:p>
            <a:r>
              <a:rPr lang="en-US" dirty="0"/>
              <a:t>So:</a:t>
            </a:r>
          </a:p>
          <a:p>
            <a:r>
              <a:rPr lang="en-US" dirty="0"/>
              <a:t>http://localhost:5173/contact</a:t>
            </a:r>
          </a:p>
          <a:p>
            <a:r>
              <a:rPr lang="en-US" dirty="0"/>
              <a:t>will display:</a:t>
            </a:r>
          </a:p>
          <a:p>
            <a:r>
              <a:rPr lang="en-US" dirty="0"/>
              <a:t>MainLayout</a:t>
            </a:r>
          </a:p>
          <a:p>
            <a:r>
              <a:rPr lang="en-US" dirty="0"/>
              <a:t>     +</a:t>
            </a:r>
          </a:p>
          <a:p>
            <a:r>
              <a:rPr lang="en-US" dirty="0"/>
              <a:t>  Contact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049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DB74-6E5C-5763-5286-F8F6840E1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13. Cart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A53D-CD4C-D436-8D26-5C001B0ED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&lt;Route path="cart" element={&lt;Cart /&gt;} /&gt;</a:t>
            </a:r>
          </a:p>
          <a:p>
            <a:r>
              <a:rPr lang="en-US" dirty="0"/>
              <a:t>This produces:</a:t>
            </a:r>
          </a:p>
          <a:p>
            <a:r>
              <a:rPr lang="en-US" dirty="0"/>
              <a:t>/cart</a:t>
            </a:r>
          </a:p>
          <a:p>
            <a:r>
              <a:rPr lang="en-US" dirty="0"/>
              <a:t>Therefore:</a:t>
            </a:r>
          </a:p>
          <a:p>
            <a:r>
              <a:rPr lang="en-US" dirty="0"/>
              <a:t>http://localhost:5173/cart</a:t>
            </a:r>
          </a:p>
          <a:p>
            <a:r>
              <a:rPr lang="en-US" dirty="0"/>
              <a:t>will display:</a:t>
            </a:r>
          </a:p>
          <a:p>
            <a:r>
              <a:rPr lang="en-US" dirty="0"/>
              <a:t>MainLayout</a:t>
            </a:r>
          </a:p>
          <a:p>
            <a:r>
              <a:rPr lang="en-US" dirty="0"/>
              <a:t>     +</a:t>
            </a:r>
          </a:p>
          <a:p>
            <a:r>
              <a:rPr lang="en-US" dirty="0"/>
              <a:t>    Cart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930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E639D-3268-B8E2-76E7-E0B096EF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 Understanding the complete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429B3-B452-3064-6681-1F7B82033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Routes</a:t>
            </a:r>
          </a:p>
          <a:p>
            <a:r>
              <a:rPr lang="en-US" dirty="0"/>
              <a:t> │</a:t>
            </a:r>
          </a:p>
          <a:p>
            <a:r>
              <a:rPr lang="en-US" dirty="0"/>
              <a:t> └── Route /</a:t>
            </a:r>
          </a:p>
          <a:p>
            <a:r>
              <a:rPr lang="en-US" dirty="0"/>
              <a:t>       │</a:t>
            </a:r>
          </a:p>
          <a:p>
            <a:r>
              <a:rPr lang="en-US" dirty="0"/>
              <a:t>       │  element = MainLayout</a:t>
            </a:r>
          </a:p>
          <a:p>
            <a:r>
              <a:rPr lang="en-US" dirty="0"/>
              <a:t>       │</a:t>
            </a:r>
          </a:p>
          <a:p>
            <a:r>
              <a:rPr lang="en-US" dirty="0"/>
              <a:t>       ├── index → Home</a:t>
            </a:r>
          </a:p>
          <a:p>
            <a:r>
              <a:rPr lang="en-US" dirty="0"/>
              <a:t>       │</a:t>
            </a:r>
          </a:p>
          <a:p>
            <a:r>
              <a:rPr lang="en-US" dirty="0"/>
              <a:t>       ├── products → Products</a:t>
            </a:r>
          </a:p>
          <a:p>
            <a:r>
              <a:rPr lang="en-US" dirty="0"/>
              <a:t>       │</a:t>
            </a:r>
          </a:p>
          <a:p>
            <a:r>
              <a:rPr lang="en-US" dirty="0"/>
              <a:t>       ├── contact → Contact</a:t>
            </a:r>
          </a:p>
          <a:p>
            <a:r>
              <a:rPr lang="en-US" dirty="0"/>
              <a:t>       │</a:t>
            </a:r>
          </a:p>
          <a:p>
            <a:r>
              <a:rPr lang="en-US" dirty="0"/>
              <a:t>       └── cart → Cart</a:t>
            </a:r>
          </a:p>
          <a:p>
            <a:r>
              <a:rPr lang="en-US" dirty="0"/>
              <a:t>This is a </a:t>
            </a:r>
            <a:r>
              <a:rPr lang="en-US" b="1" dirty="0"/>
              <a:t>parent-child route structure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4557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FF45-04DD-B45D-8BC1-C8F54F58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 The most important concept: Outlet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49066-8B07-528F-15C0-0980355EB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one very important thing you need to understand for this code to work correctly.</a:t>
            </a:r>
          </a:p>
          <a:p>
            <a:r>
              <a:rPr lang="en-US" dirty="0"/>
              <a:t>Your MainLayout should have an Outlet.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326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A0CC5-7FC2-E8F0-F846-1B044A79F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320"/>
            <a:ext cx="10515600" cy="5902643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  <a:p>
            <a:r>
              <a:rPr lang="en-US" b="1" dirty="0"/>
              <a:t>For example:</a:t>
            </a:r>
          </a:p>
          <a:p>
            <a:endParaRPr lang="en-US" dirty="0"/>
          </a:p>
          <a:p>
            <a:r>
              <a:rPr lang="en-US" dirty="0"/>
              <a:t>import { Outlet } from "react-router-dom";</a:t>
            </a:r>
          </a:p>
          <a:p>
            <a:endParaRPr lang="en-US" dirty="0"/>
          </a:p>
          <a:p>
            <a:r>
              <a:rPr lang="en-US" dirty="0"/>
              <a:t>function MainLayout() {</a:t>
            </a:r>
          </a:p>
          <a:p>
            <a:r>
              <a:rPr lang="en-US" dirty="0"/>
              <a:t>    return (</a:t>
            </a:r>
          </a:p>
          <a:p>
            <a:r>
              <a:rPr lang="en-US" dirty="0"/>
              <a:t>        &lt;&gt;</a:t>
            </a:r>
          </a:p>
          <a:p>
            <a:r>
              <a:rPr lang="en-US" dirty="0"/>
              <a:t>            &lt;Navbar /&gt;</a:t>
            </a:r>
          </a:p>
          <a:p>
            <a:endParaRPr lang="en-US" dirty="0"/>
          </a:p>
          <a:p>
            <a:r>
              <a:rPr lang="en-US" dirty="0"/>
              <a:t>            &lt;main&gt;</a:t>
            </a:r>
          </a:p>
          <a:p>
            <a:r>
              <a:rPr lang="en-US" dirty="0"/>
              <a:t>                &lt;Outlet /&gt;</a:t>
            </a:r>
          </a:p>
          <a:p>
            <a:r>
              <a:rPr lang="en-US" dirty="0"/>
              <a:t>            &lt;/main&gt;</a:t>
            </a:r>
          </a:p>
          <a:p>
            <a:endParaRPr lang="en-US" dirty="0"/>
          </a:p>
          <a:p>
            <a:r>
              <a:rPr lang="en-US" dirty="0"/>
              <a:t>            &lt;Footer /&gt;</a:t>
            </a:r>
          </a:p>
          <a:p>
            <a:r>
              <a:rPr lang="en-US" dirty="0"/>
              <a:t>        &lt;/&gt;</a:t>
            </a:r>
          </a:p>
          <a:p>
            <a:r>
              <a:rPr lang="en-US" dirty="0"/>
              <a:t>    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export default MainLayout;</a:t>
            </a:r>
          </a:p>
        </p:txBody>
      </p:sp>
    </p:spTree>
    <p:extLst>
      <p:ext uri="{BB962C8B-B14F-4D97-AF65-F5344CB8AC3E}">
        <p14:creationId xmlns:p14="http://schemas.microsoft.com/office/powerpoint/2010/main" val="1810869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77FDA-1F28-BE99-4EA0-302D149EB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400"/>
            <a:ext cx="10515600" cy="5770563"/>
          </a:xfrm>
        </p:spPr>
        <p:txBody>
          <a:bodyPr>
            <a:normAutofit/>
          </a:bodyPr>
          <a:lstStyle/>
          <a:p>
            <a:r>
              <a:rPr lang="en-US" dirty="0"/>
              <a:t>The &lt;Outlet /&gt; is the </a:t>
            </a:r>
            <a:r>
              <a:rPr lang="en-US" b="1" dirty="0"/>
              <a:t>placeholder where the child route appears</a:t>
            </a:r>
            <a:r>
              <a:rPr lang="en-US" dirty="0"/>
              <a:t>.</a:t>
            </a:r>
          </a:p>
          <a:p>
            <a:r>
              <a:rPr lang="en-US" dirty="0"/>
              <a:t>Think about it like this:</a:t>
            </a:r>
          </a:p>
          <a:p>
            <a:r>
              <a:rPr lang="en-US" dirty="0"/>
              <a:t>MainLayout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Navbar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&lt;Outlet /&gt;</a:t>
            </a:r>
          </a:p>
          <a:p>
            <a:r>
              <a:rPr lang="en-US" dirty="0"/>
              <a:t>│      ↑</a:t>
            </a:r>
          </a:p>
          <a:p>
            <a:r>
              <a:rPr lang="en-US" dirty="0"/>
              <a:t>│      │</a:t>
            </a:r>
          </a:p>
          <a:p>
            <a:r>
              <a:rPr lang="en-US" dirty="0"/>
              <a:t>│      └── Home / Products / Contact / Cart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└── Footer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83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985DC-3985-022C-9E1F-71EE6E06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16. What happens when you visit /products?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97FD4-43BF-860E-7F2E-7FDFE8E44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Let's follow the process.</a:t>
            </a:r>
          </a:p>
          <a:p>
            <a:r>
              <a:rPr lang="en-US" dirty="0"/>
              <a:t>You enter:</a:t>
            </a:r>
          </a:p>
          <a:p>
            <a:r>
              <a:rPr lang="en-US" dirty="0"/>
              <a:t>http://localhost:5173/products</a:t>
            </a:r>
          </a:p>
          <a:p>
            <a:r>
              <a:rPr lang="en-US" dirty="0"/>
              <a:t>React Router looks at your routes.</a:t>
            </a:r>
          </a:p>
          <a:p>
            <a:r>
              <a:rPr lang="en-US" dirty="0"/>
              <a:t>It finds:</a:t>
            </a:r>
          </a:p>
          <a:p>
            <a:r>
              <a:rPr lang="en-US" dirty="0"/>
              <a:t>&lt;Route path="/" element={&lt;MainLayout /&gt;}&gt;</a:t>
            </a:r>
          </a:p>
          <a:p>
            <a:r>
              <a:rPr lang="en-US" dirty="0"/>
              <a:t>Then it finds:</a:t>
            </a:r>
          </a:p>
          <a:p>
            <a:r>
              <a:rPr lang="en-US" dirty="0"/>
              <a:t>&lt;Route path="products" element={&lt;Products /&gt;} 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894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C97C-9684-CB00-5FE4-98DA327C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React creates: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32C2E-5F95-26EC-E5B8-D75C0C115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MainLayout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Navbar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Products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└── Footer</a:t>
            </a:r>
          </a:p>
          <a:p>
            <a:r>
              <a:rPr lang="en-US" dirty="0"/>
              <a:t>But technically, Products is inserted into:</a:t>
            </a:r>
          </a:p>
          <a:p>
            <a:r>
              <a:rPr lang="en-US" dirty="0"/>
              <a:t>&lt;Outlet 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648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81995-AC20-1D99-0729-359BD0D8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1040"/>
            <a:ext cx="10515600" cy="5475923"/>
          </a:xfrm>
        </p:spPr>
        <p:txBody>
          <a:bodyPr>
            <a:normAutofit/>
          </a:bodyPr>
          <a:lstStyle/>
          <a:p>
            <a:r>
              <a:rPr lang="en-US" dirty="0"/>
              <a:t>So:</a:t>
            </a:r>
          </a:p>
          <a:p>
            <a:r>
              <a:rPr lang="en-US" dirty="0"/>
              <a:t>MainLayout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Navbar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&lt;Outlet /&gt;</a:t>
            </a:r>
          </a:p>
          <a:p>
            <a:r>
              <a:rPr lang="en-US" dirty="0"/>
              <a:t>│      ↓</a:t>
            </a:r>
          </a:p>
          <a:p>
            <a:r>
              <a:rPr lang="en-US" dirty="0"/>
              <a:t>│   &lt;Products /&gt;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└── Footer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955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215B-29CD-B374-4CA4-250CEE622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17. What happens when you visit /cart?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3295-24B7-DEE2-645A-931E34ED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same process happens.</a:t>
            </a:r>
          </a:p>
          <a:p>
            <a:r>
              <a:rPr lang="en-US" dirty="0"/>
              <a:t>URL:</a:t>
            </a:r>
          </a:p>
          <a:p>
            <a:r>
              <a:rPr lang="en-US" dirty="0"/>
              <a:t>/cart</a:t>
            </a:r>
          </a:p>
          <a:p>
            <a:r>
              <a:rPr lang="en-US" dirty="0"/>
              <a:t>React finds:</a:t>
            </a:r>
          </a:p>
          <a:p>
            <a:r>
              <a:rPr lang="en-US" dirty="0"/>
              <a:t>&lt;Route path="cart" element={&lt;Cart /&gt;} 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939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5C727-79ED-A5B6-8784-94DFD631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0880"/>
            <a:ext cx="10515600" cy="5486083"/>
          </a:xfrm>
        </p:spPr>
        <p:txBody>
          <a:bodyPr>
            <a:normAutofit/>
          </a:bodyPr>
          <a:lstStyle/>
          <a:p>
            <a:r>
              <a:rPr lang="en-US" dirty="0"/>
              <a:t>Then:</a:t>
            </a:r>
          </a:p>
          <a:p>
            <a:r>
              <a:rPr lang="en-US" dirty="0"/>
              <a:t>MainLayout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Navbar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├── &lt;Outlet /&gt;</a:t>
            </a:r>
          </a:p>
          <a:p>
            <a:r>
              <a:rPr lang="en-US" dirty="0"/>
              <a:t>│      ↓</a:t>
            </a:r>
          </a:p>
          <a:p>
            <a:r>
              <a:rPr lang="en-US" dirty="0"/>
              <a:t>│     Cart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└── Footer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330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8A8C-4C8B-06F4-522F-D79C3C24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18. Why use MainLayout?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4FC0-EDD4-D143-4C79-1318F710D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Imagine you didn't use a layout.</a:t>
            </a:r>
          </a:p>
          <a:p>
            <a:r>
              <a:rPr lang="en-US" dirty="0"/>
              <a:t>You might have:</a:t>
            </a:r>
          </a:p>
          <a:p>
            <a:r>
              <a:rPr lang="en-US" dirty="0"/>
              <a:t>Home</a:t>
            </a:r>
          </a:p>
          <a:p>
            <a:r>
              <a:rPr lang="en-US" dirty="0"/>
              <a:t> ├── Navbar</a:t>
            </a:r>
          </a:p>
          <a:p>
            <a:r>
              <a:rPr lang="en-US" dirty="0"/>
              <a:t> └── Footer</a:t>
            </a:r>
          </a:p>
          <a:p>
            <a:endParaRPr lang="en-US" dirty="0"/>
          </a:p>
          <a:p>
            <a:r>
              <a:rPr lang="en-US" dirty="0"/>
              <a:t>Products</a:t>
            </a:r>
          </a:p>
          <a:p>
            <a:r>
              <a:rPr lang="en-US" dirty="0"/>
              <a:t> ├── Navbar</a:t>
            </a:r>
          </a:p>
          <a:p>
            <a:r>
              <a:rPr lang="en-US" dirty="0"/>
              <a:t> └── Footer</a:t>
            </a:r>
          </a:p>
          <a:p>
            <a:endParaRPr lang="en-US" dirty="0"/>
          </a:p>
          <a:p>
            <a:r>
              <a:rPr lang="en-US" dirty="0"/>
              <a:t>Contact</a:t>
            </a:r>
          </a:p>
          <a:p>
            <a:r>
              <a:rPr lang="en-US" dirty="0"/>
              <a:t> ├── Navbar</a:t>
            </a:r>
          </a:p>
          <a:p>
            <a:r>
              <a:rPr lang="en-US" dirty="0"/>
              <a:t> └── Footer</a:t>
            </a:r>
          </a:p>
          <a:p>
            <a:endParaRPr lang="en-US" dirty="0"/>
          </a:p>
          <a:p>
            <a:r>
              <a:rPr lang="en-US" dirty="0"/>
              <a:t>Cart</a:t>
            </a:r>
          </a:p>
          <a:p>
            <a:r>
              <a:rPr lang="en-US" dirty="0"/>
              <a:t> ├── Navbar</a:t>
            </a:r>
          </a:p>
          <a:p>
            <a:r>
              <a:rPr lang="en-US" dirty="0"/>
              <a:t> └── Footer</a:t>
            </a:r>
          </a:p>
        </p:txBody>
      </p:sp>
    </p:spTree>
    <p:extLst>
      <p:ext uri="{BB962C8B-B14F-4D97-AF65-F5344CB8AC3E}">
        <p14:creationId xmlns:p14="http://schemas.microsoft.com/office/powerpoint/2010/main" val="2292708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FC3D4-E041-A01E-A87D-B307238F2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440"/>
            <a:ext cx="10515600" cy="557752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ou</a:t>
            </a:r>
            <a:r>
              <a:rPr lang="en-US" dirty="0"/>
              <a:t> would repeat the same components.</a:t>
            </a:r>
          </a:p>
          <a:p>
            <a:r>
              <a:rPr lang="en-US" dirty="0"/>
              <a:t>With MainLayout:</a:t>
            </a:r>
          </a:p>
          <a:p>
            <a:r>
              <a:rPr lang="en-US" dirty="0"/>
              <a:t>MainLayout</a:t>
            </a:r>
          </a:p>
          <a:p>
            <a:r>
              <a:rPr lang="en-US" dirty="0"/>
              <a:t> ├── Navbar</a:t>
            </a:r>
          </a:p>
          <a:p>
            <a:r>
              <a:rPr lang="en-US" dirty="0"/>
              <a:t> ├── Outlet</a:t>
            </a:r>
          </a:p>
          <a:p>
            <a:r>
              <a:rPr lang="en-US" dirty="0"/>
              <a:t> └── Footer</a:t>
            </a:r>
          </a:p>
          <a:p>
            <a:r>
              <a:rPr lang="en-US" dirty="0"/>
              <a:t>       │</a:t>
            </a:r>
          </a:p>
          <a:p>
            <a:r>
              <a:rPr lang="en-US" dirty="0"/>
              <a:t>       ├── Home</a:t>
            </a:r>
          </a:p>
          <a:p>
            <a:r>
              <a:rPr lang="en-US" dirty="0"/>
              <a:t>       ├── Products</a:t>
            </a:r>
          </a:p>
          <a:p>
            <a:r>
              <a:rPr lang="en-US" dirty="0"/>
              <a:t>       ├── Contact</a:t>
            </a:r>
          </a:p>
          <a:p>
            <a:r>
              <a:rPr lang="en-US" dirty="0"/>
              <a:t>       └── Cart</a:t>
            </a:r>
          </a:p>
          <a:p>
            <a:r>
              <a:rPr lang="en-US" dirty="0"/>
              <a:t>Much cleaner.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803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4B87-6A37-2C91-449B-F0241F93B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 How main.jsx and App.jsx work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9604C-2CE0-BCE3-4C7D-F3B7ABC89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is particularly important because you asked about main.jsx earlier.</a:t>
            </a:r>
          </a:p>
          <a:p>
            <a:r>
              <a:rPr lang="en-US" dirty="0"/>
              <a:t>Your main.jsx has:</a:t>
            </a:r>
          </a:p>
          <a:p>
            <a:r>
              <a:rPr lang="en-US" dirty="0" err="1"/>
              <a:t>StrictMode</a:t>
            </a:r>
            <a:endParaRPr lang="en-US" dirty="0"/>
          </a:p>
          <a:p>
            <a:r>
              <a:rPr lang="en-US" dirty="0"/>
              <a:t>    ↓</a:t>
            </a:r>
          </a:p>
          <a:p>
            <a:r>
              <a:rPr lang="en-US" dirty="0" err="1"/>
              <a:t>BrowserRouter</a:t>
            </a:r>
            <a:endParaRPr lang="en-US" dirty="0"/>
          </a:p>
          <a:p>
            <a:r>
              <a:rPr lang="en-US" dirty="0"/>
              <a:t>    ↓</a:t>
            </a:r>
          </a:p>
          <a:p>
            <a:r>
              <a:rPr lang="en-US" dirty="0" err="1"/>
              <a:t>CartProvider</a:t>
            </a:r>
            <a:endParaRPr lang="en-US" dirty="0"/>
          </a:p>
          <a:p>
            <a:r>
              <a:rPr lang="en-US" dirty="0"/>
              <a:t>    ↓</a:t>
            </a:r>
          </a:p>
          <a:p>
            <a:r>
              <a:rPr lang="en-US" dirty="0"/>
              <a:t>App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412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4E76C-40D9-B73D-DC8F-C7692FF4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 App.jsx has: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A84E8-2CE6-01E5-DF21-EA20E204B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Routes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MainLayout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Outlet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Current Page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147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DCE7-44CF-682B-17E3-2D89DDD7E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the complete architecture becomes: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C39F4-1BD7-4FEB-9B18-794ED3436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main.jsx</a:t>
            </a:r>
          </a:p>
          <a:p>
            <a:r>
              <a:rPr lang="en-US" dirty="0"/>
              <a:t>│</a:t>
            </a:r>
          </a:p>
          <a:p>
            <a:r>
              <a:rPr lang="en-US" dirty="0"/>
              <a:t>└── </a:t>
            </a:r>
            <a:r>
              <a:rPr lang="en-US" dirty="0" err="1"/>
              <a:t>StrictMode</a:t>
            </a:r>
            <a:endParaRPr lang="en-US" dirty="0"/>
          </a:p>
          <a:p>
            <a:r>
              <a:rPr lang="en-US" dirty="0"/>
              <a:t>      │</a:t>
            </a:r>
          </a:p>
          <a:p>
            <a:r>
              <a:rPr lang="en-US" dirty="0"/>
              <a:t>      └── </a:t>
            </a:r>
            <a:r>
              <a:rPr lang="en-US" dirty="0" err="1"/>
              <a:t>BrowserRouter</a:t>
            </a:r>
            <a:endParaRPr lang="en-US" dirty="0"/>
          </a:p>
          <a:p>
            <a:r>
              <a:rPr lang="en-US" dirty="0"/>
              <a:t>            │</a:t>
            </a:r>
          </a:p>
          <a:p>
            <a:r>
              <a:rPr lang="en-US" dirty="0"/>
              <a:t>            └── </a:t>
            </a:r>
            <a:r>
              <a:rPr lang="en-US" dirty="0" err="1"/>
              <a:t>CartProvider</a:t>
            </a:r>
            <a:endParaRPr lang="en-US" dirty="0"/>
          </a:p>
          <a:p>
            <a:r>
              <a:rPr lang="en-US" dirty="0"/>
              <a:t>                  │</a:t>
            </a:r>
          </a:p>
          <a:p>
            <a:r>
              <a:rPr lang="en-US" dirty="0"/>
              <a:t>                  └── App.jsx</a:t>
            </a:r>
          </a:p>
          <a:p>
            <a:r>
              <a:rPr lang="en-US" dirty="0"/>
              <a:t>                        │</a:t>
            </a:r>
          </a:p>
          <a:p>
            <a:r>
              <a:rPr lang="en-US" dirty="0"/>
              <a:t>                        └── Routes</a:t>
            </a:r>
          </a:p>
        </p:txBody>
      </p:sp>
    </p:spTree>
    <p:extLst>
      <p:ext uri="{BB962C8B-B14F-4D97-AF65-F5344CB8AC3E}">
        <p14:creationId xmlns:p14="http://schemas.microsoft.com/office/powerpoint/2010/main" val="18491397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BCD82-35A2-6F47-5304-827A85ED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8800"/>
            <a:ext cx="10515600" cy="56181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 │</a:t>
            </a:r>
          </a:p>
          <a:p>
            <a:r>
              <a:rPr lang="en-US" dirty="0"/>
              <a:t>                              └── MainLayout</a:t>
            </a:r>
          </a:p>
          <a:p>
            <a:r>
              <a:rPr lang="en-US" dirty="0"/>
              <a:t>                                    │</a:t>
            </a:r>
          </a:p>
          <a:p>
            <a:r>
              <a:rPr lang="en-US" dirty="0"/>
              <a:t>                                    ├── Navbar</a:t>
            </a:r>
          </a:p>
          <a:p>
            <a:r>
              <a:rPr lang="en-US" dirty="0"/>
              <a:t>                                    │</a:t>
            </a:r>
          </a:p>
          <a:p>
            <a:r>
              <a:rPr lang="en-US" dirty="0"/>
              <a:t>                                    ├── Outlet</a:t>
            </a:r>
          </a:p>
          <a:p>
            <a:r>
              <a:rPr lang="en-US" dirty="0"/>
              <a:t>                                    │     │</a:t>
            </a:r>
          </a:p>
          <a:p>
            <a:r>
              <a:rPr lang="en-US" dirty="0"/>
              <a:t>                                    │     ├── Home</a:t>
            </a:r>
          </a:p>
          <a:p>
            <a:r>
              <a:rPr lang="en-US" dirty="0"/>
              <a:t>                                    │     ├── Products</a:t>
            </a:r>
          </a:p>
          <a:p>
            <a:r>
              <a:rPr lang="en-US" dirty="0"/>
              <a:t>                                    │     ├── Contact</a:t>
            </a:r>
          </a:p>
          <a:p>
            <a:r>
              <a:rPr lang="en-US" dirty="0"/>
              <a:t>                                    │     └── Cart</a:t>
            </a:r>
          </a:p>
          <a:p>
            <a:r>
              <a:rPr lang="en-US" dirty="0"/>
              <a:t>                                    │</a:t>
            </a:r>
          </a:p>
          <a:p>
            <a:r>
              <a:rPr lang="en-US" dirty="0"/>
              <a:t>                                    └── Footer</a:t>
            </a:r>
          </a:p>
          <a:p>
            <a:r>
              <a:rPr lang="en-US" dirty="0"/>
              <a:t>This is a very common and good structure for a React e-commerce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8824203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E32E-7D31-BE6E-5E8D-6F6067E5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 Your URLs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3CF71-E4A6-FDF2-2EB6-304CF6984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current routes create these URLs: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FC7383-AB59-4E13-9D6A-0E0B2126C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17702"/>
              </p:ext>
            </p:extLst>
          </p:nvPr>
        </p:nvGraphicFramePr>
        <p:xfrm>
          <a:off x="838200" y="2661920"/>
          <a:ext cx="10515600" cy="2783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6813395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270381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45626947"/>
                    </a:ext>
                  </a:extLst>
                </a:gridCol>
              </a:tblGrid>
              <a:tr h="55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571627"/>
                  </a:ext>
                </a:extLst>
              </a:tr>
              <a:tr h="55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Home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MainLayout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761925"/>
                  </a:ext>
                </a:extLst>
              </a:tr>
              <a:tr h="55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/products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Products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MainLayout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2121"/>
                  </a:ext>
                </a:extLst>
              </a:tr>
              <a:tr h="55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/contact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Contact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MainLayout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18928"/>
                  </a:ext>
                </a:extLst>
              </a:tr>
              <a:tr h="55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/cart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Cart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MainLayout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897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0689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17A2E-0845-B6D3-CCCF-9DE60558E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2960"/>
            <a:ext cx="10515600" cy="5354003"/>
          </a:xfrm>
        </p:spPr>
        <p:txBody>
          <a:bodyPr/>
          <a:lstStyle/>
          <a:p>
            <a:r>
              <a:rPr lang="en-US" dirty="0"/>
              <a:t>The key idea is:</a:t>
            </a:r>
          </a:p>
          <a:p>
            <a:r>
              <a:rPr lang="en-US" b="1" dirty="0"/>
              <a:t>MainLayout is the parent, and Home, Products, Contact, and Cart are its children. &lt;Outlet /&gt; is where the selected child is displayed.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6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30</TotalTime>
  <Words>1425</Words>
  <Application>Microsoft Office PowerPoint</Application>
  <PresentationFormat>Widescreen</PresentationFormat>
  <Paragraphs>361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Courier New</vt:lpstr>
      <vt:lpstr>Tw Cen MT</vt:lpstr>
      <vt:lpstr>Tw Cen MT Condensed</vt:lpstr>
      <vt:lpstr>Wingdings 3</vt:lpstr>
      <vt:lpstr>Integral</vt:lpstr>
      <vt:lpstr>App.jsx</vt:lpstr>
      <vt:lpstr>1. Importing Routes and Route</vt:lpstr>
      <vt:lpstr>PowerPoint Presentation</vt:lpstr>
      <vt:lpstr>2. Importing MainLayout</vt:lpstr>
      <vt:lpstr>PowerPoint Presentation</vt:lpstr>
      <vt:lpstr>3. Importing Home</vt:lpstr>
      <vt:lpstr>4. Importing Products</vt:lpstr>
      <vt:lpstr>5. Importing Contact</vt:lpstr>
      <vt:lpstr>6. Importing Cart</vt:lpstr>
      <vt:lpstr>7. Creating the App component</vt:lpstr>
      <vt:lpstr>8. Returning &lt;Routes&gt;</vt:lpstr>
      <vt:lpstr>You can think of it as a list of instructions:</vt:lpstr>
      <vt:lpstr>9. The parent route</vt:lpstr>
      <vt:lpstr>It has child routes inside it: </vt:lpstr>
      <vt:lpstr>10. The index route</vt:lpstr>
      <vt:lpstr>PowerPoint Presentation</vt:lpstr>
      <vt:lpstr>11. Products route</vt:lpstr>
      <vt:lpstr>PowerPoint Presentation</vt:lpstr>
      <vt:lpstr>12. Contact route</vt:lpstr>
      <vt:lpstr>13. Cart route</vt:lpstr>
      <vt:lpstr>14. Understanding the complete structure</vt:lpstr>
      <vt:lpstr>15. The most important concept: Outlet</vt:lpstr>
      <vt:lpstr>PowerPoint Presentation</vt:lpstr>
      <vt:lpstr>PowerPoint Presentation</vt:lpstr>
      <vt:lpstr>16. What happens when you visit /products?</vt:lpstr>
      <vt:lpstr>So React creates:</vt:lpstr>
      <vt:lpstr>PowerPoint Presentation</vt:lpstr>
      <vt:lpstr>17. What happens when you visit /cart?</vt:lpstr>
      <vt:lpstr>PowerPoint Presentation</vt:lpstr>
      <vt:lpstr>18. Why use MainLayout?</vt:lpstr>
      <vt:lpstr>PowerPoint Presentation</vt:lpstr>
      <vt:lpstr>19. How main.jsx and App.jsx work together</vt:lpstr>
      <vt:lpstr>Then App.jsx has: </vt:lpstr>
      <vt:lpstr>So the complete architecture becomes:</vt:lpstr>
      <vt:lpstr>PowerPoint Presentation</vt:lpstr>
      <vt:lpstr>20. Your URLs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HUMURE</dc:creator>
  <cp:lastModifiedBy>HUMURE</cp:lastModifiedBy>
  <cp:revision>2</cp:revision>
  <dcterms:created xsi:type="dcterms:W3CDTF">2026-08-12T14:59:53Z</dcterms:created>
  <dcterms:modified xsi:type="dcterms:W3CDTF">2026-08-12T15:30:43Z</dcterms:modified>
</cp:coreProperties>
</file>